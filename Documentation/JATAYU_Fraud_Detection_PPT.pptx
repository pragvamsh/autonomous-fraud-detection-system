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51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137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TRUST BANK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Fraud Detection &amp; Response Network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2267712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</a:rPr>
              <a:t>5 Autonomous AI Agents  ·  Real-Time Detection  ·  RBI/PMLA Compliant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5029200" cy="1828800"/>
          </a:xfrm>
          <a:prstGeom prst="rect">
            <a:avLst/>
          </a:prstGeom>
          <a:solidFill>
            <a:srgbClr val="122350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07792"/>
            <a:ext cx="4846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Team Rudra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0F4FF"/>
                </a:solidFill>
              </a:rPr>
              <a:t>Vasala</a:t>
            </a:r>
            <a:r>
              <a:rPr lang="en-US" sz="1050" dirty="0">
                <a:solidFill>
                  <a:srgbClr val="F0F4FF"/>
                </a:solidFill>
              </a:rPr>
              <a:t> </a:t>
            </a:r>
            <a:r>
              <a:rPr lang="en-US" sz="1050" dirty="0" err="1">
                <a:solidFill>
                  <a:srgbClr val="F0F4FF"/>
                </a:solidFill>
              </a:rPr>
              <a:t>Pragvamsh</a:t>
            </a:r>
            <a:r>
              <a:rPr lang="en-US" sz="1050" dirty="0">
                <a:solidFill>
                  <a:srgbClr val="F0F4FF"/>
                </a:solidFill>
              </a:rPr>
              <a:t> (Leader) – 22951A6779  |  Frontend &amp; Backend Integration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Bolle Nihanth Bhargav – 22951A6773  |  Backend Infrastructure &amp; DevOps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Ganji Prasuna– 22951A6783  |  Frontend UI/UX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F0F4FF"/>
                </a:solidFill>
              </a:rPr>
              <a:t>Janapaneedi</a:t>
            </a:r>
            <a:r>
              <a:rPr lang="en-US" sz="1050" dirty="0">
                <a:solidFill>
                  <a:srgbClr val="F0F4FF"/>
                </a:solidFill>
              </a:rPr>
              <a:t> Nirmal Sai Swaroop – 22951A67B6  |  Backend API &amp; Database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Tallapelly Ravali – 22951A67A0 |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2834640"/>
            <a:ext cx="3200400" cy="530352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28346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   AI Agents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69280" y="3447288"/>
            <a:ext cx="3200400" cy="530352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344728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~6s   Detection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4059936"/>
            <a:ext cx="3200400" cy="530352"/>
          </a:xfrm>
          <a:prstGeom prst="rect">
            <a:avLst/>
          </a:prstGeom>
          <a:solidFill>
            <a:srgbClr val="0077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405993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95%+   Precision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Institute of Aeronautical Engineering, Hyderabad  ·  Faculty Mentor: </a:t>
            </a:r>
            <a:r>
              <a:rPr lang="en-US" sz="900" dirty="0" err="1">
                <a:solidFill>
                  <a:srgbClr val="CBD5E1"/>
                </a:solidFill>
              </a:rPr>
              <a:t>Mriank</a:t>
            </a:r>
            <a:r>
              <a:rPr lang="en-US" sz="900" dirty="0">
                <a:solidFill>
                  <a:srgbClr val="CBD5E1"/>
                </a:solidFill>
              </a:rPr>
              <a:t> Gosh</a:t>
            </a:r>
            <a:endParaRPr lang="en-US" sz="900" dirty="0"/>
          </a:p>
        </p:txBody>
      </p:sp>
      <p:pic>
        <p:nvPicPr>
          <p:cNvPr id="1026" name="Picture 2" descr="Virtusa announces 'Jatayu' open ...">
            <a:extLst>
              <a:ext uri="{FF2B5EF4-FFF2-40B4-BE49-F238E27FC236}">
                <a16:creationId xmlns:a16="http://schemas.microsoft.com/office/drawing/2014/main" id="{C358822D-6A06-F598-742D-8A71487AE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986" y="255676"/>
            <a:ext cx="1368213" cy="102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91440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41248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</a:rPr>
              <a:t>The Challenge: </a:t>
            </a:r>
            <a:r>
              <a:rPr lang="en-US" sz="1250" dirty="0">
                <a:solidFill>
                  <a:srgbClr val="FFFFFF"/>
                </a:solidFill>
              </a:rPr>
              <a:t>Preparing financial fraud reports — income statements, balance sheets, cash flow analysis — is time-consuming and error-prone at scale. Traditional rule-based systems cannot detect novel patterns, adapt to individual customer behavior, or automatically enforce RBI/PMLA regulations.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74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Time-Consuming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28600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Fraud analysis across large transaction datasets takes hours. By the time a pattern is flagged manually, funds have already moved.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87452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874520"/>
            <a:ext cx="274320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874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Error-Prone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228600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Manual cross-referencing introduces inconsistencies and misses coordinated fraud patterns that span multiple customer accounts.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874520"/>
            <a:ext cx="274320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874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Non-Compliant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28600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Meeting RBI, PMLA, and FIU-IND reporting deadlines manually is operationally unsustainable for high-volume banking environments.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370832"/>
            <a:ext cx="8595360" cy="658368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441655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Objective: </a:t>
            </a:r>
            <a:r>
              <a:rPr lang="en-US" sz="1200" dirty="0">
                <a:solidFill>
                  <a:srgbClr val="FFFFFF"/>
                </a:solidFill>
              </a:rPr>
              <a:t>Build an autonomous, multi-agent AI system that detects fraud in real-time, automatically enforces regulatory compliance (CTR/STR), and eliminates manual intervention entirely — with 95%+ precision.</a:t>
            </a:r>
            <a:endParaRPr lang="en-US" sz="1200" dirty="0"/>
          </a:p>
        </p:txBody>
      </p:sp>
      <p:pic>
        <p:nvPicPr>
          <p:cNvPr id="21" name="Picture 2" descr="Virtusa announces 'Jatayu' open ...">
            <a:extLst>
              <a:ext uri="{FF2B5EF4-FFF2-40B4-BE49-F238E27FC236}">
                <a16:creationId xmlns:a16="http://schemas.microsoft.com/office/drawing/2014/main" id="{CACE6898-0CE3-98A3-48A3-E887F5878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Target Segment / Market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1234440"/>
          </a:xfrm>
          <a:prstGeom prst="rect">
            <a:avLst/>
          </a:prstGeom>
          <a:solidFill>
            <a:srgbClr val="122350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</a:rPr>
              <a:t>$1.95B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Market Size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822960"/>
            <a:ext cx="2743200" cy="1234440"/>
          </a:xfrm>
          <a:prstGeom prst="rect">
            <a:avLst/>
          </a:prstGeom>
          <a:solidFill>
            <a:srgbClr val="122350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868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A261"/>
                </a:solidFill>
              </a:rPr>
              <a:t>26.29%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15544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CAGR 2025–2034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2743200" cy="1234440"/>
          </a:xfrm>
          <a:prstGeom prst="rect">
            <a:avLst/>
          </a:prstGeom>
          <a:solidFill>
            <a:srgbClr val="122350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8686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</a:rPr>
              <a:t>$15.69B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15544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Projected by 2034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212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Target Customer Segments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</a:rPr>
              <a:t>→  Finance &amp; Accounting Teams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</a:rPr>
              <a:t>→  Financial Planning &amp; Analysis (FP&amp;A) Teams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</a:rPr>
              <a:t>→  Chief Financial Officers (CFOs)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243967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</a:rPr>
              <a:t>→  Controllers &amp; Accounting Managers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</a:rPr>
              <a:t>→  Banks, Investment Firms &amp; Fintech Companies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4FF"/>
                </a:solidFill>
              </a:rPr>
              <a:t>→  SaaS Companies with financial data platforms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407408"/>
            <a:ext cx="8595360" cy="566928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45312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The Global Generative AI in Financial Services market is forecast to grow from $1.95B in 2025 to $15.69B by 2034 — a CAGR of 26.29%. This System is positioned to serve this rapidly expanding market.</a:t>
            </a:r>
            <a:endParaRPr lang="en-US" sz="1150" dirty="0"/>
          </a:p>
        </p:txBody>
      </p:sp>
      <p:pic>
        <p:nvPicPr>
          <p:cNvPr id="18" name="Picture 2" descr="Virtusa announces 'Jatayu' open ...">
            <a:extLst>
              <a:ext uri="{FF2B5EF4-FFF2-40B4-BE49-F238E27FC236}">
                <a16:creationId xmlns:a16="http://schemas.microsoft.com/office/drawing/2014/main" id="{B8E7205C-1C25-6582-4D10-27048428C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System Overview — The 5-Agent Pipeline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This project breaks fraud detection into 5 independent, asynchronous stages. The customer gets an immediate response while the pipeline runs in the background to a final verdict.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502920" cy="65836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9844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441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7B6"/>
                </a:solidFill>
              </a:rPr>
              <a:t>TMA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</a:rPr>
              <a:t>Transaction Monitoring 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29844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Real-time behavioral analysis — behavior profile, 15 anomaly features, Isolation Forest ML, ChromaDB RAG retrieval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29968"/>
            <a:ext cx="5029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2996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0756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PRA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377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</a:rPr>
              <a:t>Pattern Recognition Agent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02996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Cross-customer trend &amp; typology detection — EWM temporal analysis, network fan-out, FIU-IND typology matching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61488"/>
            <a:ext cx="502920" cy="6583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76148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8072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</a:rPr>
              <a:t>RAA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</a:rPr>
              <a:t>Risk Assessment Agent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276148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Regulatory scoring &amp; fusion — 5-dimension scoring, RAG retrieval, 60/40 score fusion, CTR/STR compliance, action package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9300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93008"/>
            <a:ext cx="50292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49300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5387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ABA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3840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</a:rPr>
              <a:t>Alert &amp; Block Agent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349300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Verdict execution — gateway routing, transaction reversal, account freeze, customer notification, FIU-IND filing, case creation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224528"/>
            <a:ext cx="50292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22452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2702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CLA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" y="4572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</a:rPr>
              <a:t>Case &amp; Legal Agent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422452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Archive evidence, generate STR/CTR compliance documents, feed confirmed fraud back into RAG knowledge base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9103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</a:rPr>
              <a:t>Final Decision at each stage: ALLOW  ·  FLAG  ·  ALERT  ·  BLOCK</a:t>
            </a:r>
            <a:endParaRPr lang="en-US" sz="1000" dirty="0"/>
          </a:p>
        </p:txBody>
      </p:sp>
      <p:pic>
        <p:nvPicPr>
          <p:cNvPr id="37" name="Picture 2" descr="Virtusa announces 'Jatayu' open ...">
            <a:extLst>
              <a:ext uri="{FF2B5EF4-FFF2-40B4-BE49-F238E27FC236}">
                <a16:creationId xmlns:a16="http://schemas.microsoft.com/office/drawing/2014/main" id="{F8FBFAF5-9C15-572D-8C22-A79DB2B09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Agent 01 — TMA: Transaction Monitoring Agent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12235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Role: Real-time behavioral analysis of individual transactions  |  Trigger: Immediately after payment commit  |  Duration: ~4.5 seconds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24528" cy="1170432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65760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0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24358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Build Behavior Profile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Fetches 90-day transaction history for the customer and computes rolling mean, standard deviation, and maximum values to establish a behavioral baseline.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450592"/>
            <a:ext cx="4224528" cy="1170432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50592"/>
            <a:ext cx="365760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450592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50545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Extract Anomaly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816352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Generates 15 signals: Z-score deviation, transaction velocity (per hour), new recipient flag, time-of-day anomaly, day-of-week pattern, amount percentile, and more.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712464"/>
            <a:ext cx="4224528" cy="1170432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12464"/>
            <a:ext cx="365760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712464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76732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ML Scoring — Isolation Forest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078224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Trained anomaly detection model scores the transaction on a 0–100 scale. Higher score = more anomalous. Converted from Isolation Forest's [-1, 1] output range.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81728" y="1188720"/>
            <a:ext cx="4224528" cy="1170432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1188720"/>
            <a:ext cx="365760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1188720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38928" y="124358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RAG Retrieval — ChromaDB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38928" y="1554480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Queries 4 ChromaDB collections: L2 fraud cases (k=15, 50%), L1 regulatory rules (k=3, 20%), L3 typologies (30%), and L4 dynamic weights for fusion calibration.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2450592"/>
            <a:ext cx="4224528" cy="1170432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2450592"/>
            <a:ext cx="365760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2450592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38928" y="250545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Score Fusion &amp; Decision Engine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38928" y="2816352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Fuses ML score (60% weight) and RAG score (40% weight) using adaptive weights retrieved from L4. Decision thresholds: &lt;40 ALLOW, 40–59 FLAG, 60–74 ALERT, ≥75 BLOCK.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81728" y="3712464"/>
            <a:ext cx="4224528" cy="1170432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81728" y="3712464"/>
            <a:ext cx="365760" cy="1170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681728" y="3712464"/>
            <a:ext cx="365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38928" y="376732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Response Executor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38928" y="4078224"/>
            <a:ext cx="3675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Writes a fraud_alert row to MySQL if fused score ≥ 40. Passes decision downstream to PRA. Includes anomaly flag list and confidence score for audit trail.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915239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</a:rPr>
              <a:t>Output → tma_score: 56  |  decision: FLAG  |  anomaly_flags: [High Z-score, Unusual recipient]  |  confidence: 0.87</a:t>
            </a:r>
            <a:endParaRPr lang="en-US" sz="1000" dirty="0"/>
          </a:p>
        </p:txBody>
      </p:sp>
      <p:pic>
        <p:nvPicPr>
          <p:cNvPr id="37" name="Picture 2" descr="Virtusa announces 'Jatayu' open ...">
            <a:extLst>
              <a:ext uri="{FF2B5EF4-FFF2-40B4-BE49-F238E27FC236}">
                <a16:creationId xmlns:a16="http://schemas.microsoft.com/office/drawing/2014/main" id="{D11C75DB-AD31-698A-16E6-38F8882CD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Agent 02 — PRA: Pattern Recognition Agent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Role: Cross-customer fraud trend &amp; typology detection  |  Trigger: After TMA (only if TMA decision ≠ ALLOW)  |  Duration: ~4–5 seconds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224528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422452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07008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Temporal Analyzer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609344"/>
            <a:ext cx="3950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Applies Exponential Weighted Moving Average (EWM) to the customer's transaction risk history over the past 7 days. Detects if a customer's risk profile is accelerating — a strong early indicator of compromised accounts.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1728" y="1207008"/>
            <a:ext cx="4224528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207008"/>
            <a:ext cx="4224528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1207008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Network Analyzer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18888" y="1609344"/>
            <a:ext cx="3950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Checks fan-out: how many distinct customers are sending funds to the same recipient account within a rolling time window. A high-fan-out recipient hub is the primary indicator of a Money Mule Network scheme.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224528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70048"/>
            <a:ext cx="422452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70048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Typology Retrieval — ChromaDB L3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072384"/>
            <a:ext cx="3950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Encodes the transaction's 15 anomaly flags as a 384-dimensional vector using Sentence Transformers and queries the ChromaDB L3_typologies collection. Returns the best-matching fraud typology with a cosine similarity score.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2670048"/>
            <a:ext cx="4224528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2670048"/>
            <a:ext cx="4224528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2670048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Score Aggregation &amp; Verdict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18888" y="3072384"/>
            <a:ext cx="39502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Combines temporal EWM risk trend + network fan-out score + typology similarity into a unified PRA score (0–100). Assigns a named typology: Money Mule Network, SIM Swap, Account Takeover, or Smurfing.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47312"/>
            <a:ext cx="8595360" cy="713232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7024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⚡ Fast-Escalation Rule: </a:t>
            </a:r>
            <a:r>
              <a:rPr lang="en-US" sz="1200" dirty="0">
                <a:solidFill>
                  <a:srgbClr val="FFFFFF"/>
                </a:solidFill>
              </a:rPr>
              <a:t>If pra_score ≥ 75, PRA triggers ABA immediately — bypassing RAA entirely to stop the transaction faster. For scores below 75, the fraud_alert row is updated and RAA picks it up on the next polling cycle (every 500ms).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90999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3AED"/>
                </a:solidFill>
              </a:rPr>
              <a:t>Output → pra_score: 62  |  decision: ALERT  |  typology: Money Mule Network  |  network_risk: HIGH  |  pattern_matches: 3</a:t>
            </a:r>
            <a:endParaRPr lang="en-US" sz="1000" dirty="0"/>
          </a:p>
        </p:txBody>
      </p:sp>
      <p:pic>
        <p:nvPicPr>
          <p:cNvPr id="25" name="Picture 2" descr="Virtusa announces 'Jatayu' open ...">
            <a:extLst>
              <a:ext uri="{FF2B5EF4-FFF2-40B4-BE49-F238E27FC236}">
                <a16:creationId xmlns:a16="http://schemas.microsoft.com/office/drawing/2014/main" id="{C1B6B2B3-6CE0-F2C5-EF7E-2824CF4F4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B3E"/>
                </a:solidFill>
              </a:rPr>
              <a:t>Agent 03 — RAA: Risk Assessment Agent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12235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Role: Regulatory compliance scoring &amp; final fusion  |  Trigger: Background poller every 500ms when pra_processed = 1  |  Duration: ~3–6 seconds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29184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1216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Intelligence Aggregator: </a:t>
            </a:r>
            <a:r>
              <a:rPr lang="en-US" sz="1050" dirty="0">
                <a:solidFill>
                  <a:srgbClr val="F0F4FF"/>
                </a:solidFill>
              </a:rPr>
              <a:t>Reads the fraud_alert row and validates both TMA and PRA results, merging them into a unified intelligence context for multi-agent fusion.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59636"/>
            <a:ext cx="329184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659636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" y="16870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Customer Tier Classifier: </a:t>
            </a:r>
            <a:r>
              <a:rPr lang="en-US" sz="1050" dirty="0">
                <a:solidFill>
                  <a:srgbClr val="F0F4FF"/>
                </a:solidFill>
              </a:rPr>
              <a:t>Assigns T1 (Low) → T4 (Critical) based on 90-day alert history, transaction volume, and watchlists. Auto-demotes to CRITICAL if previous_alerts_7d ≥ 3 or blocked amount &gt; ₹5L.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30552"/>
            <a:ext cx="329184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130552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" y="21579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5-Dimension Scorer (Score_A): </a:t>
            </a:r>
            <a:r>
              <a:rPr lang="en-US" sz="1050" dirty="0">
                <a:solidFill>
                  <a:srgbClr val="F0F4FF"/>
                </a:solidFill>
              </a:rPr>
              <a:t>D1: Velocity · D2: Typology Match · D3: Customer Tier · D4: Regulatory Flags · D5: Anomaly Strength. Each dimension scored 0–20 pts. Score_A = D1+D2+D3+D4+D5 (max 100).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601468"/>
            <a:ext cx="329184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01468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26289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RAG Retrieval (Score_B): </a:t>
            </a:r>
            <a:r>
              <a:rPr lang="en-US" sz="1050" dirty="0">
                <a:solidFill>
                  <a:srgbClr val="F0F4FF"/>
                </a:solidFill>
              </a:rPr>
              <a:t>Queries L2 (k=15, 50%) + L1 regulations (k=3, 20%) + L3 typologies (30%). Computes cosine-weighted average for Score_B (0–100).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72384"/>
            <a:ext cx="329184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072384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" y="30998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Score Fusion Engine: </a:t>
            </a:r>
            <a:r>
              <a:rPr lang="en-US" sz="1050" dirty="0">
                <a:solidFill>
                  <a:srgbClr val="F0F4FF"/>
                </a:solidFill>
              </a:rPr>
              <a:t>final_score = (Score_A × 0.60) + (Score_B × 0.40). Floor adjustments: if Score_A &gt; 75 → min final = 75; if Score_B &gt; 80 → min final = 80.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543300"/>
            <a:ext cx="329184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43300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35707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Regulatory Engine: </a:t>
            </a:r>
            <a:r>
              <a:rPr lang="en-US" sz="1050" dirty="0">
                <a:solidFill>
                  <a:srgbClr val="F0F4FF"/>
                </a:solidFill>
              </a:rPr>
              <a:t>CTR trigger: transaction &gt; ₹10L. STR trigger: final_score ≥ 70 AND amount &gt; ₹50K, or multiple alerts in 30 days. Auto-drafts STR document for FIU-IND submission.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014216"/>
            <a:ext cx="329184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014216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" y="4041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Action Package Builder: </a:t>
            </a:r>
            <a:r>
              <a:rPr lang="en-US" sz="1050" dirty="0">
                <a:solidFill>
                  <a:srgbClr val="F0F4FF"/>
                </a:solidFill>
              </a:rPr>
              <a:t>Constructs a structured JSON action package: verdict, gateway_action, freeze_account, notify_customer, file_str, str_summary. Writes to action_packages table for ABA.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485132"/>
            <a:ext cx="329184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485132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" y="45125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DB Write-back: </a:t>
            </a:r>
            <a:r>
              <a:rPr lang="en-US" sz="1050" dirty="0">
                <a:solidFill>
                  <a:srgbClr val="F0F4FF"/>
                </a:solidFill>
              </a:rPr>
              <a:t>Updates fraud_alerts with raa_verdict, raa_score, customer_tier, d1_d5_scores, and sets raa_processed = 1 for audit trail and pipeline state management.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</a:rPr>
              <a:t>Output → raa_verdict: BLOCK  |  raa_score: 78  |  customer_tier: T3  |  D1-D5: [18,16,14,15,15]  |  gateway_action: STOPPED  |  file_str: true</a:t>
            </a:r>
            <a:endParaRPr lang="en-US" sz="1000" dirty="0"/>
          </a:p>
        </p:txBody>
      </p:sp>
      <p:pic>
        <p:nvPicPr>
          <p:cNvPr id="31" name="Picture 2" descr="Virtusa announces 'Jatayu' open ...">
            <a:extLst>
              <a:ext uri="{FF2B5EF4-FFF2-40B4-BE49-F238E27FC236}">
                <a16:creationId xmlns:a16="http://schemas.microsoft.com/office/drawing/2014/main" id="{BA77F3E4-2E41-1A53-6C71-54EE8B709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Agent 04 — ABA: Alert &amp; Block Agent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Role: Execute verdict-specific actions autonomously  |  Trigger: Action packages from RAA or PRA fast-escalation  |  Duration: ~2–3 seconds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91440" cy="8412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1  Package Loader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Reads and validates the structured action package — verdict, gateway_action, freeze_account flag, notify_customer flag, file_str flag, and STR summary from the action_packages table.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1188720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188720"/>
            <a:ext cx="9144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2  Gateway Controller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536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Routes the decision to the payment gateway: APPROVE (clear transaction), APPROVE_AFTER_CONFIRM (trigger OTP verification), HELD (queue for manual review), STOPPED (initiate reversal).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21408"/>
            <a:ext cx="91440" cy="8412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76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3  Action Executor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For BLOCK verdict: reverses the transaction, debits sender, credits recipient to unwind the transfer, and creates a timestamped action_log entry for the full audit trail.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81728" y="2121408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2121408"/>
            <a:ext cx="9144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2176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4  Notification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Queues SMS and email alerts. Customer receives: 'Unusual activity detected — verify your account.' Bank operations team receives a high-risk transaction alert with alert_id and raa_score.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54096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54096"/>
            <a:ext cx="91440" cy="8412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5  Account Controller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If verdict is BLOCK: sets account_frozen = 1 with frozen_reason = 'FRAUD_SUSPECTED' in customer_accounts table. Prevents all further outgoing transactions until analyst review.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3054096"/>
            <a:ext cx="4224528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3054096"/>
            <a:ext cx="9144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6  Regulatory Router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Files the auto-drafted STR or CTR report to the FIU-IND portal. Logs the portal reference number to the audit trail for compliance verification and PMLA record-keeping.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977640"/>
            <a:ext cx="85953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977640"/>
            <a:ext cx="91440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32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7  Case Manager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32511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Creates a fraud_cases row: case_id (FRAUD_YYYY_XXXXXX), status = PENDING_REVIEW, case_type (e.g., MONEY_MULE_NETWORK), assigned_to = null (queued for analyst). Passed to CLA.</a:t>
            </a:r>
            <a:endParaRPr lang="en-US" sz="1050" dirty="0"/>
          </a:p>
        </p:txBody>
      </p:sp>
      <p:pic>
        <p:nvPicPr>
          <p:cNvPr id="34" name="Picture 2" descr="Virtusa announces 'Jatayu' open ...">
            <a:extLst>
              <a:ext uri="{FF2B5EF4-FFF2-40B4-BE49-F238E27FC236}">
                <a16:creationId xmlns:a16="http://schemas.microsoft.com/office/drawing/2014/main" id="{1529B87F-EDA8-F8E3-E6BC-349FE5367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Agent 05 — CLA: Case &amp; Legal Agent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12235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Role: Evidence archival, compliance document generation &amp; RAG feedback  |  Trigger: Background processor on PENDING_REVIEW cases  |  Duration: ~5–10 seconds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877824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502920" cy="8778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0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12435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Case Processor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536192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Fetches the fraud_cases row created by ABA and contextualizes it by joining all related data: the original payment record, transaction timeline, full customer profile (KYC, history, tier), and all TMA, PRA, RAA decision outputs with scores and confidence values.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57984"/>
            <a:ext cx="8595360" cy="877824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57984"/>
            <a:ext cx="502920" cy="8778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157984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96112" y="22128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Citation Archiver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50545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Generates and stores structured evidence PDFs in /cla_archive/{case_id}/. Files include: payment_detail.pdf, customer_profile.pdf, transaction_timeline.pdf, and rag_reasoning.pdf — which explains exactly why each agent reached its decision.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27248"/>
            <a:ext cx="8595360" cy="877824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27248"/>
            <a:ext cx="502920" cy="8778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127248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6112" y="31821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STR / CTR Document Generator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474720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Generates Suspicious Transaction Reports and Cash Transaction Reports in Indian FIU-IND format (XBRL-compliant). Includes transaction details, customer KYC information, suspicious activity indicators, and all supporting evidence files as attachments.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096512"/>
            <a:ext cx="8595360" cy="877824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096512"/>
            <a:ext cx="502920" cy="8778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096512"/>
            <a:ext cx="5029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41513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Feedback Handler — The Learning Loop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4443984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When a case is marked CONFIRMED_FRAUD by an analyst: adds the feature vector to L2_fraud_cases collection, recalibrates L4_dynamic_weights to reflect updated ML vs RAG accuracy, and logs to L5_feedback_log. Every confirmed case permanently improves future detection — the system becomes smarter with volume.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95604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</a:rPr>
              <a:t>CLA closes the learning loop — every confirmed fraud case improves future detection accuracy automatically and permanently.</a:t>
            </a:r>
            <a:endParaRPr lang="en-US" sz="1050" dirty="0"/>
          </a:p>
        </p:txBody>
      </p:sp>
      <p:pic>
        <p:nvPicPr>
          <p:cNvPr id="27" name="Picture 2" descr="Virtusa announces 'Jatayu' open ...">
            <a:extLst>
              <a:ext uri="{FF2B5EF4-FFF2-40B4-BE49-F238E27FC236}">
                <a16:creationId xmlns:a16="http://schemas.microsoft.com/office/drawing/2014/main" id="{9279D3B3-5D43-7B21-1AEC-D052D1CAF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RAG Layer — ChromaDB 4-Layer Knowledge Base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Retrieval-Augmented Generation combines ML predictions with a structured knowledge base in ChromaDB to produce explainable, regulation-grounded fraud scores. Transaction features are encoded into 384-dim vectors via Sentence Transformers.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960120" cy="8229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9844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77393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Text-based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53312" y="1362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Regulatory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53312" y="16459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RBI / PMLA / FIU-IND compliance rules. Queried k=3. Cosine similarity on semantic embeddings.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0" y="1408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</a:rPr>
              <a:t>Weight: 20%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89520" y="137160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Updated by: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KB ingest scripts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12848"/>
            <a:ext cx="960120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1284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" y="268833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Vector 384-dim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53312" y="2276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Fraud Cases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25603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Historical confirmed fraud feature vectors. Queried k=15. Cosine sim threshold ≥ 0.70.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23225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</a:rPr>
              <a:t>Weight: 50%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0" y="228600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Updated by: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CLA on CONFIRMED_FRAUD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127248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27248"/>
            <a:ext cx="96012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12724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74320" y="360273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Vector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53312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Typologies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53312" y="34747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FIU-IND fraud typology patterns &amp; indicators. Returns named typology + similarity score.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0" y="32369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</a:rPr>
              <a:t>Weight: 30%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9520" y="320040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Updated by: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KB ingest scripts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041648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041648"/>
            <a:ext cx="960120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04164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74320" y="4517136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Meta-learning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353312" y="4105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Dynamic Weights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53312" y="43891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Tracks ML vs RAG monthly accuracy. Adjusts ml_weight / rag_weight adaptively. Default: 0.60 / 0.40.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0" y="41513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</a:rPr>
              <a:t>Weight: Calibration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589520" y="411480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Updated by: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Monthly auto-update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878324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7B6"/>
                </a:solidFill>
              </a:rPr>
              <a:t>Score_B = L2 (50%) + L1 (20%) + L3 (30%)  ·  Fusion: final = Score_A × 0.60 + Score_B × 0.40  (weights from L4)</a:t>
            </a:r>
            <a:endParaRPr lang="en-US" sz="1050" dirty="0"/>
          </a:p>
        </p:txBody>
      </p:sp>
      <p:pic>
        <p:nvPicPr>
          <p:cNvPr id="39" name="Picture 2" descr="Virtusa announces 'Jatayu' open ...">
            <a:extLst>
              <a:ext uri="{FF2B5EF4-FFF2-40B4-BE49-F238E27FC236}">
                <a16:creationId xmlns:a16="http://schemas.microsoft.com/office/drawing/2014/main" id="{EC80D0A1-3405-7694-8303-17E1BD8DC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solidFill>
            <a:srgbClr val="122350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Architecture Diagram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just"/>
            <a:r>
              <a:rPr lang="en-US" sz="1200" dirty="0">
                <a:solidFill>
                  <a:schemeClr val="bg1"/>
                </a:solidFill>
              </a:rPr>
              <a:t>It is an end-to-end autonomous fraud detection system that ingests payment transactions and customer profiles through a Flask REST API. The Transaction Monitoring Agent (TMA) processes each payment through seven stages: behavioral profiling, anomaly signal extraction, Isolation Forest ML scoring, and 4-layer RAG knowledge retrieval. The system orchestrates a five-agent pipeline (TMA→PRA→RAA→ABA→CLA) that performs pattern recognition, risk assessment, alert execution, and case archival in real-time. All decisions are simultaneously stored in MySQL and </a:t>
            </a:r>
            <a:r>
              <a:rPr lang="en-US" sz="1200" dirty="0" err="1">
                <a:solidFill>
                  <a:schemeClr val="bg1"/>
                </a:solidFill>
              </a:rPr>
              <a:t>ChromaDB</a:t>
            </a:r>
            <a:r>
              <a:rPr lang="en-US" sz="1200" dirty="0">
                <a:solidFill>
                  <a:schemeClr val="bg1"/>
                </a:solidFill>
              </a:rPr>
              <a:t> vector databases, with automated PDF generation and email notifications dispatched to stakeholders. The React dashboard provides real-time visualization of the multi-agent pipeline, while deployment across </a:t>
            </a:r>
            <a:r>
              <a:rPr lang="en-US" sz="1200" dirty="0" err="1">
                <a:solidFill>
                  <a:schemeClr val="bg1"/>
                </a:solidFill>
              </a:rPr>
              <a:t>Vercel</a:t>
            </a:r>
            <a:r>
              <a:rPr lang="en-US" sz="1200" dirty="0">
                <a:solidFill>
                  <a:schemeClr val="bg1"/>
                </a:solidFill>
              </a:rPr>
              <a:t> (frontend) and Render (backend) ensures scalability and reliability.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Full-Stack AI-Driven: Next.js · Node.js API · MongoDB · Gemini 2.0 Flash · ChromaDB RAG · PDF Generation · Nodemailer  |  Deployed: Vercel (frontend) + Render (backend)</a:t>
            </a:r>
            <a:endParaRPr lang="en-US" sz="1000" dirty="0"/>
          </a:p>
        </p:txBody>
      </p:sp>
      <p:pic>
        <p:nvPicPr>
          <p:cNvPr id="7" name="Picture 2" descr="Virtusa announces 'Jatayu' open ...">
            <a:extLst>
              <a:ext uri="{FF2B5EF4-FFF2-40B4-BE49-F238E27FC236}">
                <a16:creationId xmlns:a16="http://schemas.microsoft.com/office/drawing/2014/main" id="{F5FF6EF9-32F4-E196-C675-C4DCECD99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E58F27-18C9-6205-246C-4ED9D7ACD8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755"/>
          <a:stretch>
            <a:fillRect/>
          </a:stretch>
        </p:blipFill>
        <p:spPr>
          <a:xfrm>
            <a:off x="558800" y="1251494"/>
            <a:ext cx="7913439" cy="17423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Flow Chart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4069080"/>
          </a:xfrm>
          <a:prstGeom prst="rect">
            <a:avLst/>
          </a:prstGeom>
          <a:solidFill>
            <a:srgbClr val="E8F4FD"/>
          </a:solidFill>
          <a:ln w="254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69173" y="1960148"/>
            <a:ext cx="6220547" cy="2821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83413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Journey: Landing Page → Register / Login → Onboarding → Dashboard → Upload Data → Preview → Anomaly Check → Compliance → Insights → Export PDF / Email</a:t>
            </a:r>
            <a:endParaRPr lang="en-US" sz="1000" dirty="0"/>
          </a:p>
        </p:txBody>
      </p:sp>
      <p:pic>
        <p:nvPicPr>
          <p:cNvPr id="8" name="Picture 2" descr="Virtusa announces 'Jatayu' open ...">
            <a:extLst>
              <a:ext uri="{FF2B5EF4-FFF2-40B4-BE49-F238E27FC236}">
                <a16:creationId xmlns:a16="http://schemas.microsoft.com/office/drawing/2014/main" id="{A3488989-EF8E-3F56-886F-F6F256715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6D2676D-044B-8D5A-C153-97EFE8512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23" y="915809"/>
            <a:ext cx="3206284" cy="3660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06D57F-BD6E-05C2-F591-1F7A5E090669}"/>
              </a:ext>
            </a:extLst>
          </p:cNvPr>
          <p:cNvSpPr txBox="1"/>
          <p:nvPr/>
        </p:nvSpPr>
        <p:spPr>
          <a:xfrm>
            <a:off x="4111413" y="915809"/>
            <a:ext cx="43078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Customers interact with Jatayu through three primary workflows: account registration, authentication with OTP verification, and payment initiation. Upon payment submission, the system triggers the automated fraud detection pipeline, which performs real-time analysis across multiple agents (TMA, PRA, RAA, ABA). The system generates a fraud verdict (ALLOW, FLAG, ALERT, or BLOCK) based on ML scoring and RAG knowledge retrieval. Simultaneously, admin users monitor high-risk alerts and manage compliance actions through the Alert &amp; Block interface. For flagged transactions, the Compliance Officer reviews detailed case information and generates regulatory reports (STR/CTR) along with PDF documentation. The entire workflow ensures customer transactions are processed instantly while maintaining real-time oversight and regulatory compliance throughout the detection lifecycle.</a:t>
            </a:r>
            <a:endParaRPr lang="en-IN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Why Our Solution Is Accurate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1298448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91440" cy="12984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Isolation Forest ML Model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50" dirty="0">
                <a:solidFill>
                  <a:srgbClr val="F0F4FF"/>
                </a:solidFill>
              </a:rPr>
              <a:t>Pre-trained scikit-learn Isolation Forest algorithm detects anomalies by isolating irregular transaction patterns in a high-dimensional feature space. The model is calibrated against your historical transaction dataset with dynamic min/max normalization. Fallback mechanism ensures pipeline continues even if model fails, preventing silent allowance of unscored transactions.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4251960" cy="1298448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94560"/>
            <a:ext cx="91440" cy="12984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03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4A261"/>
                </a:solidFill>
              </a:rPr>
              <a:t>4-Layer Retrieval-Augmented Generation (RAG)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05795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50" dirty="0" err="1">
                <a:solidFill>
                  <a:srgbClr val="F0F4FF"/>
                </a:solidFill>
              </a:rPr>
              <a:t>ChromaDB</a:t>
            </a:r>
            <a:r>
              <a:rPr lang="en-US" sz="1050" dirty="0">
                <a:solidFill>
                  <a:srgbClr val="F0F4FF"/>
                </a:solidFill>
              </a:rPr>
              <a:t>-powered knowledge base with four specialized retrieval layers: L1 handles regulatory rules compliance (RBI/PMLA standards), L2 matches against historical fraud cases with cosine similarity weighting, L3 compares fraud typology patterns, and L4 dynamically calibrates ML/RAG weight ratios based on accuracy history. Eliminates hallucinations through evidence-backed context retrieval.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584448"/>
            <a:ext cx="4251960" cy="1298448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84448"/>
            <a:ext cx="91440" cy="12984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93931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7C3AED"/>
                </a:solidFill>
              </a:rPr>
              <a:t>Behavioral Profile Engineering</a:t>
            </a:r>
          </a:p>
        </p:txBody>
      </p:sp>
      <p:sp>
        <p:nvSpPr>
          <p:cNvPr id="15" name="Text 13"/>
          <p:cNvSpPr/>
          <p:nvPr/>
        </p:nvSpPr>
        <p:spPr>
          <a:xfrm>
            <a:off x="457200" y="3877734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50" dirty="0">
                <a:solidFill>
                  <a:srgbClr val="F0F4FF"/>
                </a:solidFill>
              </a:rPr>
              <a:t>Constructs 90-day customer behavioral baseline tracking 15 anomaly signals including Z-score amount deviation, transaction velocity (frequency/volume), recipient risk profiling, time-of-day patterns, and cross-customer network analysis. Cold-start detection identifies new accounts, triggering enhanced verification. Profile strength scoring adjusts confidence weighting across all downstream decisions.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804672"/>
            <a:ext cx="4251960" cy="1298448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804672"/>
            <a:ext cx="91440" cy="12984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787231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</a:rPr>
              <a:t>Multi-Agent Risk Orchestration Pipeline</a:t>
            </a:r>
          </a:p>
        </p:txBody>
      </p:sp>
      <p:sp>
        <p:nvSpPr>
          <p:cNvPr id="19" name="Text 17"/>
          <p:cNvSpPr/>
          <p:nvPr/>
        </p:nvSpPr>
        <p:spPr>
          <a:xfrm>
            <a:off x="5029200" y="1125728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50" dirty="0">
                <a:solidFill>
                  <a:srgbClr val="F0F4FF"/>
                </a:solidFill>
              </a:rPr>
              <a:t>Five specialized agents (TMA→PRA→RAA→ABA→CLA) sequentially process each transaction: TMA scores individual transaction risk with ML+RAG fusion, PRA identifies temporal patterns and network anomalies, RAA aggregates multi-dimensional risk indicators, ABA executes gateway controls and regulatory filings, CLA archives case documentation. Non-blocking architecture returns immediately while agents process in background.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4251960" cy="1298448"/>
          </a:xfrm>
          <a:prstGeom prst="rect">
            <a:avLst/>
          </a:prstGeom>
          <a:solidFill>
            <a:srgbClr val="12235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194560"/>
            <a:ext cx="91440" cy="129844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167297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77B6"/>
                </a:solidFill>
              </a:rPr>
              <a:t>Confidence-Based Score Fusion &amp; Thresholds</a:t>
            </a:r>
          </a:p>
        </p:txBody>
      </p:sp>
      <p:sp>
        <p:nvSpPr>
          <p:cNvPr id="23" name="Text 21"/>
          <p:cNvSpPr/>
          <p:nvPr/>
        </p:nvSpPr>
        <p:spPr>
          <a:xfrm>
            <a:off x="5029200" y="2505794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50" dirty="0">
                <a:solidFill>
                  <a:srgbClr val="F0F4FF"/>
                </a:solidFill>
              </a:rPr>
              <a:t>Intelligently weights ML and RAG scores (default 60% ML + 40% RAG) with dynamic adjustment from L4 accuracy calibration. Applies confidence gates—high-similarity matches override lower-confidence predictions. Four decision verdicts (ALLOW | FLAG | ALERT | BLOCK ) with cold-start penalties and regulatory override checks ensure both accuracy and regulatory compliance.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4251960" cy="987552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657600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1B3E"/>
                </a:solidFill>
              </a:rPr>
              <a:t>95%+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766560" y="3749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Precision Rate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across all financial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calculations &amp; insights</a:t>
            </a:r>
            <a:endParaRPr lang="en-US" sz="1100" dirty="0"/>
          </a:p>
        </p:txBody>
      </p:sp>
      <p:pic>
        <p:nvPicPr>
          <p:cNvPr id="27" name="Picture 2" descr="Virtusa announces 'Jatayu' open ...">
            <a:extLst>
              <a:ext uri="{FF2B5EF4-FFF2-40B4-BE49-F238E27FC236}">
                <a16:creationId xmlns:a16="http://schemas.microsoft.com/office/drawing/2014/main" id="{A4808CD6-58C7-36E6-E217-AB060E984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 &amp; Future Enhancements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This project is an AI-powered autonomous fraud detection platform that transforms raw transaction data into actionable fraud verdicts through a 5-agent pipeline, RAG-enhanced knowledge, and full RBI/PMLA compliance — with zero manual intervention required.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36192"/>
            <a:ext cx="27432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33%+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20482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</a:rPr>
              <a:t>Cost Reduction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22677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Earlier fraud detection reduces operational loss exposure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536192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36192"/>
            <a:ext cx="2743200" cy="91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</a:rPr>
              <a:t>10–20%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54680" y="20482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</a:rPr>
              <a:t>Productivity Gain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54680" y="22677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Fewer false positives, reduced manual review burden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536192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536192"/>
            <a:ext cx="27432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6642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30%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35040" y="20482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3E"/>
                </a:solidFill>
              </a:rPr>
              <a:t>Faster Processing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0" y="22677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34155"/>
                </a:solidFill>
              </a:rPr>
              <a:t>Automated pipeline vs. manual compilation time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274320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Enterprise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337560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ERP connectivity — SAP, Oracle, QuickBooks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Real-time financial data streaming &amp; live alerts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Blockchain immutable audit trails &amp; smart contracts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297180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2971800"/>
            <a:ext cx="274320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 27"/>
          <p:cNvSpPr/>
          <p:nvPr/>
        </p:nvSpPr>
        <p:spPr>
          <a:xfrm>
            <a:off x="31546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Enhanced User Experience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3337560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Mobile native apps — iOS &amp; Android with offline mode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Voice-activated financial query interface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Real-time collaborative workflows &amp; approval flows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297180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971800"/>
            <a:ext cx="274320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Platform Scalability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44768" y="3337560"/>
            <a:ext cx="252374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Kubernetes-based auto-scaling cloud infrastructure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Microservices architecture decomposition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Redis advanced caching for faster report generation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952661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</a:rPr>
              <a:t>Modular RAG infrastructure enables seamless adaptation across industries — same architecture, sector-specific knowledge bases.</a:t>
            </a:r>
            <a:endParaRPr lang="en-US" sz="1000" dirty="0"/>
          </a:p>
        </p:txBody>
      </p:sp>
      <p:pic>
        <p:nvPicPr>
          <p:cNvPr id="36" name="Picture 2" descr="Virtusa announces 'Jatayu' open ...">
            <a:extLst>
              <a:ext uri="{FF2B5EF4-FFF2-40B4-BE49-F238E27FC236}">
                <a16:creationId xmlns:a16="http://schemas.microsoft.com/office/drawing/2014/main" id="{8B0EC61C-EC4B-DDF9-30F1-A11F379E4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14054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164592" cy="4924044"/>
          </a:xfrm>
          <a:prstGeom prst="rect">
            <a:avLst/>
          </a:prstGeom>
          <a:solidFill>
            <a:srgbClr val="1223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8112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2788920" y="1687068"/>
            <a:ext cx="3657600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83565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B4D8"/>
                </a:solidFill>
              </a:rPr>
              <a:t>Spread your wings and reach for your dream  🦅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2358644"/>
            <a:ext cx="8503920" cy="256032"/>
          </a:xfrm>
          <a:prstGeom prst="rect">
            <a:avLst/>
          </a:prstGeom>
          <a:solidFill>
            <a:srgbClr val="12235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586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Team Rudra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</a:rPr>
              <a:t>Institute of Aeronautical Engineering, Hyderabad  ·  Faculty Mentor: </a:t>
            </a:r>
            <a:r>
              <a:rPr lang="en-US" sz="900" dirty="0" err="1">
                <a:solidFill>
                  <a:srgbClr val="CBD5E1"/>
                </a:solidFill>
              </a:rPr>
              <a:t>Mriank</a:t>
            </a:r>
            <a:r>
              <a:rPr lang="en-US" sz="900" dirty="0">
                <a:solidFill>
                  <a:srgbClr val="CBD5E1"/>
                </a:solidFill>
              </a:rPr>
              <a:t> Gosh  ·  Virtusa Jatayu Program</a:t>
            </a:r>
            <a:endParaRPr lang="en-US" sz="9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633FA3EB-996F-0DB8-704F-22B713120C04}"/>
              </a:ext>
            </a:extLst>
          </p:cNvPr>
          <p:cNvSpPr/>
          <p:nvPr/>
        </p:nvSpPr>
        <p:spPr>
          <a:xfrm>
            <a:off x="2103120" y="2736003"/>
            <a:ext cx="5029200" cy="1828800"/>
          </a:xfrm>
          <a:prstGeom prst="rect">
            <a:avLst/>
          </a:prstGeom>
          <a:solidFill>
            <a:srgbClr val="122350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8317B38-40D9-C82B-28D8-D5BBFDAE6F67}"/>
              </a:ext>
            </a:extLst>
          </p:cNvPr>
          <p:cNvSpPr/>
          <p:nvPr/>
        </p:nvSpPr>
        <p:spPr>
          <a:xfrm>
            <a:off x="2194560" y="2809155"/>
            <a:ext cx="4846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AF66D53-5F93-666E-36BF-02B260BE2C98}"/>
              </a:ext>
            </a:extLst>
          </p:cNvPr>
          <p:cNvSpPr/>
          <p:nvPr/>
        </p:nvSpPr>
        <p:spPr>
          <a:xfrm>
            <a:off x="2194560" y="3005582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F0F4FF"/>
                </a:solidFill>
              </a:rPr>
              <a:t>Vasala</a:t>
            </a:r>
            <a:r>
              <a:rPr lang="en-US" sz="1050" dirty="0">
                <a:solidFill>
                  <a:srgbClr val="F0F4FF"/>
                </a:solidFill>
              </a:rPr>
              <a:t> </a:t>
            </a:r>
            <a:r>
              <a:rPr lang="en-US" sz="1050" dirty="0" err="1">
                <a:solidFill>
                  <a:srgbClr val="F0F4FF"/>
                </a:solidFill>
              </a:rPr>
              <a:t>Pragvamsh</a:t>
            </a:r>
            <a:r>
              <a:rPr lang="en-US" sz="1050" dirty="0">
                <a:solidFill>
                  <a:srgbClr val="F0F4FF"/>
                </a:solidFill>
              </a:rPr>
              <a:t> (Leader) – 22951A6779  |  Frontend &amp; Backend Integration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Bolle Nihanth Bhargav – 22951A6773  |  Backend Infrastructure &amp; DevOps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Ganji Prasuna– 22951A6783  |  Frontend UI/UX</a:t>
            </a: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F0F4FF"/>
                </a:solidFill>
              </a:rPr>
              <a:t>Janapaneedi</a:t>
            </a:r>
            <a:r>
              <a:rPr lang="en-US" sz="1050" dirty="0">
                <a:solidFill>
                  <a:srgbClr val="F0F4FF"/>
                </a:solidFill>
              </a:rPr>
              <a:t> Nirmal Sai Swaroop – 22951A67B6  |  Backend API &amp; Database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Tallapelly Ravali – 22951A67A0 | </a:t>
            </a:r>
            <a:endParaRPr lang="en-US" sz="1050" dirty="0"/>
          </a:p>
        </p:txBody>
      </p:sp>
      <p:pic>
        <p:nvPicPr>
          <p:cNvPr id="22" name="Picture 2" descr="Virtusa announces 'Jatayu' open ...">
            <a:extLst>
              <a:ext uri="{FF2B5EF4-FFF2-40B4-BE49-F238E27FC236}">
                <a16:creationId xmlns:a16="http://schemas.microsoft.com/office/drawing/2014/main" id="{D955829A-3A90-A909-02F3-42AD83CD6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10" y="243925"/>
            <a:ext cx="841430" cy="63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3188</Words>
  <Application>Microsoft Office PowerPoint</Application>
  <PresentationFormat>On-screen Show (16:9)</PresentationFormat>
  <Paragraphs>253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JATAYU — Autonomous Fraud Detection &amp; Response Network</dc:title>
  <dc:subject>PptxGenJS Presentation</dc:subject>
  <dc:creator>PptxGenJS</dc:creator>
  <cp:lastModifiedBy>bolle jayanth sri teja</cp:lastModifiedBy>
  <cp:revision>2</cp:revision>
  <dcterms:created xsi:type="dcterms:W3CDTF">2026-03-30T18:52:18Z</dcterms:created>
  <dcterms:modified xsi:type="dcterms:W3CDTF">2026-03-30T20:21:13Z</dcterms:modified>
</cp:coreProperties>
</file>